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-1371600" y="475488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250">
                <a:solidFill>
                  <a:srgbClr val="5B21B6"/>
                </a:solidFill>
                <a:latin typeface="Inter"/>
              </a:rPr>
              <a:t>AMMAN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11827"/>
                </a:solidFill>
                <a:latin typeface="Inter"/>
              </a:rPr>
              <a:t>Accountability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5B21B6"/>
                </a:solidFill>
                <a:latin typeface="Inter"/>
              </a:rPr>
              <a:t>without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11827"/>
                </a:solidFill>
                <a:latin typeface="Inter"/>
              </a:rPr>
              <a:t>surveillance.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Inter"/>
              </a:rPr>
              <a:t>A same-day delivery operation that ditched GPS — and stopped losing drivers.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Inter"/>
              </a:rPr>
              <a:t>Yalla Wassel — built for Hadeel's team in Wadi Saqra.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438339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250">
                <a:solidFill>
                  <a:srgbClr val="5B21B6"/>
                </a:solidFill>
                <a:latin typeface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Inter"/>
              </a:rPr>
              <a:t>Eight drivers.</a:t>
            </a:r>
          </a:p>
          <a:p>
            <a:pPr algn="l"/>
            <a:r>
              <a:rPr sz="4200" b="1">
                <a:solidFill>
                  <a:srgbClr val="111827"/>
                </a:solidFill>
                <a:latin typeface="Inter"/>
              </a:rPr>
              <a:t>One sticky-note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Inter"/>
              </a:rPr>
              <a:t>Hadeel runs a same-day delivery shop. Orders arrive via WhatsApp, yelling, and Post-its. She installed GPS trackers to bring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Two drivers quit the same week. One said it out 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11680"/>
            <a:ext cx="4114800" cy="310896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286000"/>
            <a:ext cx="365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7C3AED"/>
                </a:solidFill>
                <a:latin typeface="Inter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83464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Inter"/>
              </a:rPr>
              <a:t>You don't pay me enough to be watched all 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572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— Mahmoud, before resigning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657508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8686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86868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250">
                <a:solidFill>
                  <a:srgbClr val="5B21B6"/>
                </a:solidFill>
                <a:latin typeface="Inter"/>
              </a:rPr>
              <a:t>THE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Inter"/>
              </a:rPr>
              <a:t>Surveillance and </a:t>
            </a:r>
            <a:r>
              <a:rPr sz="4000" b="1">
                <a:solidFill>
                  <a:srgbClr val="5B21B6"/>
                </a:solidFill>
                <a:latin typeface="Inter"/>
              </a:rPr>
              <a:t>accountability </a:t>
            </a:r>
            <a:r>
              <a:rPr sz="4000" b="1">
                <a:solidFill>
                  <a:srgbClr val="111827"/>
                </a:solidFill>
                <a:latin typeface="Inter"/>
              </a:rPr>
              <a:t>are different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Inter"/>
              </a:rPr>
              <a:t>Accountability is the result of clear commitments, not constant observation.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4754880" cy="24688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9776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240">
                <a:solidFill>
                  <a:srgbClr val="9CA3AF"/>
                </a:solidFill>
                <a:latin typeface="Inter"/>
              </a:rPr>
              <a:t>GPS TELLS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348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— Coordinates every 30s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8920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— Speed and idle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492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— Route deviations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4754880" cy="24688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9776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240">
                <a:solidFill>
                  <a:srgbClr val="5B21B6"/>
                </a:solidFill>
                <a:latin typeface="Inter"/>
              </a:rPr>
              <a:t>WHAT ACTUALLY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— Did they pick it up?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920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— Are they on their way?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492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— Did the customer get 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4876678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250">
                <a:solidFill>
                  <a:srgbClr val="5B21B6"/>
                </a:solidFill>
                <a:latin typeface="Inter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Inter"/>
              </a:rPr>
              <a:t>Yalla Wassel runs on three primitives.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Not surveillance. Three small ideas, working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2044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319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50">
                <a:solidFill>
                  <a:srgbClr val="7C3AED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891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Trust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07492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Four checkpoint taps per delivery. Append-only, public commitments. Zero coordinates stored.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52044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9319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50">
                <a:solidFill>
                  <a:srgbClr val="7C3AED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Mutual Trust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07492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Drivers rate the system every week. The dispatcher sees their score next to her 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52044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9319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50">
                <a:solidFill>
                  <a:srgbClr val="7C3AED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3891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Explainable 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07492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Every assignment ships with one sentence. Override the engine? You have to say why.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6095847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spc="150">
                <a:solidFill>
                  <a:srgbClr val="5B21B6"/>
                </a:solidFill>
                <a:latin typeface="Inter"/>
              </a:rPr>
              <a:t>PILLAR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111827"/>
                </a:solidFill>
                <a:latin typeface="Inter"/>
              </a:rPr>
              <a:t>The Trust Ledger.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374151"/>
                </a:solidFill>
                <a:latin typeface="Inter"/>
              </a:rPr>
              <a:t>Drivers tap four buttons per delivery. Each tap is a public commitment, not a tracked coordinate. Append-only, auditable, dignified.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06240"/>
            <a:ext cx="2194560" cy="128016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452628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</a:rPr>
              <a:t>Assigned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08:14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206240"/>
            <a:ext cx="4572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A855F7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206240"/>
            <a:ext cx="2194560" cy="128016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0" y="452628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846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</a:rPr>
              <a:t>Picked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08:28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206240"/>
            <a:ext cx="4572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A855F7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06240"/>
            <a:ext cx="2194560" cy="128016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452628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Inter"/>
              </a:rPr>
              <a:t>Arrived nearby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08:41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206240"/>
            <a:ext cx="4572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A855F7"/>
                </a:solidFill>
                <a:latin typeface="Inte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4206240"/>
            <a:ext cx="219456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0" y="4526280"/>
            <a:ext cx="201168" cy="201168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846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Inter"/>
              </a:rPr>
              <a:t>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120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Inter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52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Optional delay reasons live alongside — traffic, store delay, customer unavailable, vehicle. One tap. Customer sees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7315017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spc="150">
                <a:solidFill>
                  <a:srgbClr val="5B21B6"/>
                </a:solidFill>
                <a:latin typeface="Inter"/>
              </a:rPr>
              <a:t>PILLAR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111827"/>
                </a:solidFill>
                <a:latin typeface="Inter"/>
              </a:rPr>
              <a:t>Trust runs </a:t>
            </a:r>
            <a:r>
              <a:rPr sz="4600" b="1">
                <a:solidFill>
                  <a:srgbClr val="5B21B6"/>
                </a:solidFill>
                <a:latin typeface="Inter"/>
              </a:rPr>
              <a:t>both 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374151"/>
                </a:solidFill>
                <a:latin typeface="Inter"/>
              </a:rPr>
              <a:t>Drivers rate the system weekly on three axes: fairness, fit, pressure. The dispatcher sees their team's score next to her 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39"/>
            <a:ext cx="352044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799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111827"/>
                </a:solidFill>
                <a:latin typeface="Inter"/>
              </a:rPr>
              <a:t>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40679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Inter"/>
              </a:rPr>
              <a:t>Driver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06439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on-time, completion, streaks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749039"/>
            <a:ext cx="3520440" cy="24688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114799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5B21B6"/>
                </a:solidFill>
                <a:latin typeface="Inter"/>
              </a:rPr>
              <a:t>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440679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Inter"/>
              </a:rPr>
              <a:t>Mutual Trust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806439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geometric mean — both sides 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749039"/>
            <a:ext cx="352044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114799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111827"/>
                </a:solidFill>
                <a:latin typeface="Inter"/>
              </a:rP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440679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Inter"/>
              </a:rPr>
              <a:t>System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5806439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fairness, fit, pressure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55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Geometric mean — you can't trade one side for the other.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8534186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spc="150">
                <a:solidFill>
                  <a:srgbClr val="5B21B6"/>
                </a:solidFill>
                <a:latin typeface="Inter"/>
              </a:rPr>
              <a:t>PILLAR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Inter"/>
              </a:rPr>
              <a:t>Every assignment, one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6858000" cy="3200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220">
                <a:solidFill>
                  <a:srgbClr val="7C3AED"/>
                </a:solidFill>
                <a:latin typeface="Inter"/>
              </a:rPr>
              <a:t>ENGINE SUGGESTS · #1005 · URGENT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Inter"/>
              </a:rPr>
              <a:t>Hamza — Central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459943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Inter"/>
              </a:rPr>
              <a:t>Jabal Amman is in his coverage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98348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86460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Inter"/>
              </a:rPr>
              <a:t>0 active orders right now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536752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248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Inter"/>
              </a:rPr>
              <a:t>96% on-time rate on urgent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" y="5751576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63270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Inter"/>
              </a:rPr>
              <a:t>Last 4 deliveries to this street were 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1089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Take the pick.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One click.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57200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Override? You have to say why. That reason becomes a signal the engine learns from.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753356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250">
                <a:solidFill>
                  <a:srgbClr val="5B21B6"/>
                </a:solidFill>
                <a:latin typeface="Inter"/>
              </a:rPr>
              <a:t>THREE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Inter"/>
              </a:rPr>
              <a:t>Built around the way work actually happens.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6324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2900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200">
                <a:solidFill>
                  <a:srgbClr val="7C3AED"/>
                </a:solidFill>
                <a:latin typeface="Inter"/>
              </a:rPr>
              <a:t>DISPATCHER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319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1772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Live timeline, explainable dispatch, mutual-trust dashboard. No 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06324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42900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200">
                <a:solidFill>
                  <a:srgbClr val="7C3AED"/>
                </a:solidFill>
                <a:latin typeface="Inter"/>
              </a:rPr>
              <a:t>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9319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Silent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61772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One screen, one order, one button at a time. Zero notifications.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06324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42900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200">
                <a:solidFill>
                  <a:srgbClr val="7C3AED"/>
                </a:solidFill>
                <a:latin typeface="Inter"/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319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Inter"/>
              </a:rPr>
              <a:t>Live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61772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Timeline, not a map. ETA, status, confirmation code. Never sees driver location.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17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The dispatcher screen has </a:t>
            </a:r>
            <a:r>
              <a:rPr sz="1300" b="1">
                <a:solidFill>
                  <a:srgbClr val="5B21B6"/>
                </a:solidFill>
                <a:latin typeface="Inter"/>
              </a:rPr>
              <a:t>no map</a:t>
            </a:r>
            <a:r>
              <a:rPr sz="1300" b="0">
                <a:solidFill>
                  <a:srgbClr val="6B7280"/>
                </a:solidFill>
                <a:latin typeface="Inter"/>
              </a:rPr>
              <a:t>. That deliberate absence is the entire product thesis.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525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250">
                <a:solidFill>
                  <a:srgbClr val="5B21B6"/>
                </a:solidFill>
                <a:latin typeface="Inter"/>
              </a:rPr>
              <a:t>WHY WE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Inter"/>
              </a:rPr>
              <a:t>The moat is a team that doesn't quit.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35204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3756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7C3AED"/>
                </a:solidFill>
                <a:latin typeface="Consolas"/>
              </a:rPr>
              <a:t>VS ONFLEET / BRINGG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Built for fleets of interchangeable contractors. We build for retention.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971800"/>
            <a:ext cx="35204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33756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7C3AED"/>
                </a:solidFill>
                <a:latin typeface="Consolas"/>
              </a:rPr>
              <a:t>VS WHATSAPP + 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84048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10× more legible without becoming 10× more invasive.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71800"/>
            <a:ext cx="352044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33756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60">
                <a:solidFill>
                  <a:srgbClr val="7C3AED"/>
                </a:solidFill>
                <a:latin typeface="Consolas"/>
              </a:rPr>
              <a:t>VS FULL GPS SURVEILLANCE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84048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Inter"/>
              </a:rPr>
              <a:t>Surveillance has a hidden cost: the best people leave.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394960"/>
            <a:ext cx="10652760" cy="914400"/>
          </a:xfrm>
          <a:prstGeom prst="roundRect">
            <a:avLst>
              <a:gd name="adj" fmla="val 18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394960"/>
            <a:ext cx="9738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North-star metric:  </a:t>
            </a:r>
            <a:r>
              <a:rPr sz="1800" b="1">
                <a:solidFill>
                  <a:srgbClr val="FFFFFF"/>
                </a:solidFill>
                <a:latin typeface="Inter"/>
              </a:rPr>
              <a:t>Mutual Trust Index ≥ 85</a:t>
            </a:r>
            <a:r>
              <a:rPr sz="1600" b="0">
                <a:solidFill>
                  <a:srgbClr val="FFFFFF"/>
                </a:solidFill>
                <a:latin typeface="Inter"/>
              </a:rPr>
              <a:t>  within month one. Track the team you can't afford to lose.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381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292608" cy="292608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Inter"/>
              </a:rPr>
              <a:t>Yalla </a:t>
            </a:r>
            <a:r>
              <a:rPr sz="1100" b="1">
                <a:solidFill>
                  <a:srgbClr val="7C3AED"/>
                </a:solidFill>
                <a:latin typeface="Inter"/>
              </a:rPr>
              <a:t>Wassel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258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2588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250">
                <a:solidFill>
                  <a:srgbClr val="5B21B6"/>
                </a:solidFill>
                <a:latin typeface="Inter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Inter"/>
              </a:rPr>
              <a:t>The dispatcher screen has </a:t>
            </a:r>
            <a:r>
              <a:rPr sz="4000" b="1">
                <a:solidFill>
                  <a:srgbClr val="5B21B6"/>
                </a:solidFill>
                <a:latin typeface="Inter"/>
              </a:rPr>
              <a:t>no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Inter"/>
              </a:rPr>
              <a:t>That deliberate absence is the entire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3484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Inter"/>
              </a:rPr>
              <a:t>v0.1 ships today. v0.2 onboards 5 more Amman operations. v1.0 opens the checkpoint primitive as an API — trust infrastructure for any work where people feel surveilled.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486400"/>
            <a:ext cx="3383280" cy="640080"/>
          </a:xfrm>
          <a:prstGeom prst="roundRect">
            <a:avLst>
              <a:gd name="adj" fmla="val 42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github.com/anasmutlaq123-ship-it/yalla-wassel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Yalla Wassel · Amman · since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Inter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